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4"/>
    <p:sldId id="265" r:id="rId5"/>
    <p:sldId id="30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9"/>
  </p:normalViewPr>
  <p:slideViewPr>
    <p:cSldViewPr snapToGrid="0">
      <p:cViewPr varScale="1">
        <p:scale>
          <a:sx n="115" d="100"/>
          <a:sy n="115"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F84E9-02D7-371B-FBBB-E93D0EBABB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81EE15-E54D-7DDF-42E6-76DF66B735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C05245-DB0F-5916-5ECC-2F886A7B473B}"/>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5" name="Footer Placeholder 4">
            <a:extLst>
              <a:ext uri="{FF2B5EF4-FFF2-40B4-BE49-F238E27FC236}">
                <a16:creationId xmlns:a16="http://schemas.microsoft.com/office/drawing/2014/main" id="{9E35EE6E-7900-6283-8547-348AF1AE46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89074F-D7B5-3ED1-761F-B1F8073F4E1A}"/>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1824587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506C-04A2-5EF4-3AB1-AA766B6CEC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5394C5-85F7-030A-EEC5-F1CEB6065F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F13F-7AD4-102C-2BA8-08DB01042A04}"/>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5" name="Footer Placeholder 4">
            <a:extLst>
              <a:ext uri="{FF2B5EF4-FFF2-40B4-BE49-F238E27FC236}">
                <a16:creationId xmlns:a16="http://schemas.microsoft.com/office/drawing/2014/main" id="{D941438D-E690-C20B-405E-C1B7093FFC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109818-D003-4310-6744-FFECDDD6A53A}"/>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202637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6EF0C-3E37-91D8-D566-8E568783EA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389355-CB1D-9C46-8041-8258A77057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CE881E-B186-8649-1685-3B6ADF0D01B1}"/>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5" name="Footer Placeholder 4">
            <a:extLst>
              <a:ext uri="{FF2B5EF4-FFF2-40B4-BE49-F238E27FC236}">
                <a16:creationId xmlns:a16="http://schemas.microsoft.com/office/drawing/2014/main" id="{9608CBF6-BD42-754C-90F2-DADDC803C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FFADC4-A500-BC10-E156-7F8A9064282D}"/>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1063448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BF7D3-41A6-1D7D-4EA9-63D4EAC937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C309C1-EC07-C315-58C1-549153630F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76A090-D4E5-547E-3E0D-890044B514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E5DECD-251A-EBE6-A366-CACBE6FA9E52}"/>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6" name="Footer Placeholder 5">
            <a:extLst>
              <a:ext uri="{FF2B5EF4-FFF2-40B4-BE49-F238E27FC236}">
                <a16:creationId xmlns:a16="http://schemas.microsoft.com/office/drawing/2014/main" id="{3F6D1A79-5573-2C9B-8319-134CA5387C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0B7C4F-C581-C5FE-FB58-E098C3B47F1E}"/>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788297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6694C-D5B5-C317-2DDC-6BF0F3CFEA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5CD367-2044-5BD4-1D15-1E7FA397A8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C86DF5-304A-00C2-3624-02A4C5B3E4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A782B-F6BE-94E8-2F8F-C30A83A8A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6EB14-4404-C19D-7F7F-37FEF3B781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EFEF6D-746A-23E4-35F2-D40F6090FADE}"/>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8" name="Footer Placeholder 7">
            <a:extLst>
              <a:ext uri="{FF2B5EF4-FFF2-40B4-BE49-F238E27FC236}">
                <a16:creationId xmlns:a16="http://schemas.microsoft.com/office/drawing/2014/main" id="{B7C2F34A-541F-17FD-D300-4346B669F6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E9054D-2261-2C1D-7E1D-459B9B18108B}"/>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122460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D0E3D-B549-CA91-5D50-DAFC1F1819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FFD332-708D-2B87-C4EE-F4FDC479B978}"/>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4" name="Footer Placeholder 3">
            <a:extLst>
              <a:ext uri="{FF2B5EF4-FFF2-40B4-BE49-F238E27FC236}">
                <a16:creationId xmlns:a16="http://schemas.microsoft.com/office/drawing/2014/main" id="{EB21A15B-E0C4-68C3-8A80-D81299EE37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6CE2E4-BA68-B26B-7FCF-9BDB1DC607F0}"/>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3161762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A9CDFF-497E-39F6-67D4-FBBBF581C95A}"/>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3" name="Footer Placeholder 2">
            <a:extLst>
              <a:ext uri="{FF2B5EF4-FFF2-40B4-BE49-F238E27FC236}">
                <a16:creationId xmlns:a16="http://schemas.microsoft.com/office/drawing/2014/main" id="{A9D95838-86CB-3E54-53DE-5A2C715257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58B8E1-253C-8846-4C1F-71CA016DCF17}"/>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2428195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D581F-E284-8872-A2AC-CE1741349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298ECD-CD0A-58CB-6215-AA1299A879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190700-3EBA-0C49-0AEE-67BFB75906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DE8283-77C7-8670-B5F6-EF0F1E05705B}"/>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6" name="Footer Placeholder 5">
            <a:extLst>
              <a:ext uri="{FF2B5EF4-FFF2-40B4-BE49-F238E27FC236}">
                <a16:creationId xmlns:a16="http://schemas.microsoft.com/office/drawing/2014/main" id="{1B22D828-CF58-A508-05A6-B8B2773F44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C513D-82E2-1132-7FBA-6CF1F3A152D0}"/>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27944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4A34F-EE4C-39B1-D451-D0D87F0EEF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7DB06C-CE9A-D417-46B2-1D18A3BA5E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8A71A-8F11-7F34-8C6E-44B442DEC2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A12491-2902-4A26-A30F-A4059FF172A1}"/>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6" name="Footer Placeholder 5">
            <a:extLst>
              <a:ext uri="{FF2B5EF4-FFF2-40B4-BE49-F238E27FC236}">
                <a16:creationId xmlns:a16="http://schemas.microsoft.com/office/drawing/2014/main" id="{C46501BE-06E1-CA14-5C30-DD3E216730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15CAF5-4BB7-CC0F-31EE-ACBE86600AF0}"/>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3103791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53A97-D74E-8783-7BE2-93DADD2E3A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4247AD-4FDF-7F00-15C4-FEB33E249A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2DCBA3-688D-75A9-3720-DFA9EB47B9ED}"/>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5" name="Footer Placeholder 4">
            <a:extLst>
              <a:ext uri="{FF2B5EF4-FFF2-40B4-BE49-F238E27FC236}">
                <a16:creationId xmlns:a16="http://schemas.microsoft.com/office/drawing/2014/main" id="{95BF91A6-F6F5-AD94-06C6-ECC10FFC0C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468EA-2DA2-5045-6483-F5BB416ED606}"/>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557535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F795F3-AC1F-11DD-1AEC-2E2E1224BE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1825E1-BD40-2462-6ECE-46B813DED2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AB8827-822D-B5E6-068D-47010AFE5587}"/>
              </a:ext>
            </a:extLst>
          </p:cNvPr>
          <p:cNvSpPr>
            <a:spLocks noGrp="1"/>
          </p:cNvSpPr>
          <p:nvPr>
            <p:ph type="dt" sz="half" idx="10"/>
          </p:nvPr>
        </p:nvSpPr>
        <p:spPr/>
        <p:txBody>
          <a:bodyPr/>
          <a:lstStyle/>
          <a:p>
            <a:fld id="{5D713C64-C970-7246-BEB7-30C743A579B1}" type="datetimeFigureOut">
              <a:rPr lang="en-US" smtClean="0"/>
              <a:t>3/30/26</a:t>
            </a:fld>
            <a:endParaRPr lang="en-US"/>
          </a:p>
        </p:txBody>
      </p:sp>
      <p:sp>
        <p:nvSpPr>
          <p:cNvPr id="5" name="Footer Placeholder 4">
            <a:extLst>
              <a:ext uri="{FF2B5EF4-FFF2-40B4-BE49-F238E27FC236}">
                <a16:creationId xmlns:a16="http://schemas.microsoft.com/office/drawing/2014/main" id="{0D5F4B7F-7D5B-3579-9E10-AC4056C30D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FFBBE9-48A8-F442-88C9-B1811E600370}"/>
              </a:ext>
            </a:extLst>
          </p:cNvPr>
          <p:cNvSpPr>
            <a:spLocks noGrp="1"/>
          </p:cNvSpPr>
          <p:nvPr>
            <p:ph type="sldNum" sz="quarter" idx="12"/>
          </p:nvPr>
        </p:nvSpPr>
        <p:spPr/>
        <p:txBody>
          <a:bodyPr/>
          <a:lstStyle/>
          <a:p>
            <a:fld id="{4E20BE0E-DB3F-6E4D-9EA2-32F16AC3B300}" type="slidenum">
              <a:rPr lang="en-US" smtClean="0"/>
              <a:t>‹#›</a:t>
            </a:fld>
            <a:endParaRPr lang="en-US"/>
          </a:p>
        </p:txBody>
      </p:sp>
    </p:spTree>
    <p:extLst>
      <p:ext uri="{BB962C8B-B14F-4D97-AF65-F5344CB8AC3E}">
        <p14:creationId xmlns:p14="http://schemas.microsoft.com/office/powerpoint/2010/main" val="47704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A3EEB2-70FB-765D-0B00-BAABC9D9A6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D0E1B8-8EB3-1663-AA5E-FD1BA53E6C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761F4A-D658-C6F8-2DFD-CFC81D897D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713C64-C970-7246-BEB7-30C743A579B1}" type="datetimeFigureOut">
              <a:rPr lang="en-US" smtClean="0"/>
              <a:t>3/30/26</a:t>
            </a:fld>
            <a:endParaRPr lang="en-US"/>
          </a:p>
        </p:txBody>
      </p:sp>
      <p:sp>
        <p:nvSpPr>
          <p:cNvPr id="5" name="Footer Placeholder 4">
            <a:extLst>
              <a:ext uri="{FF2B5EF4-FFF2-40B4-BE49-F238E27FC236}">
                <a16:creationId xmlns:a16="http://schemas.microsoft.com/office/drawing/2014/main" id="{E8BAF4B3-780D-0051-DCFF-5A64E038E8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741A9D-4991-08D4-54BE-ADF325A66B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20BE0E-DB3F-6E4D-9EA2-32F16AC3B300}" type="slidenum">
              <a:rPr lang="en-US" smtClean="0"/>
              <a:t>‹#›</a:t>
            </a:fld>
            <a:endParaRPr lang="en-US"/>
          </a:p>
        </p:txBody>
      </p:sp>
    </p:spTree>
    <p:extLst>
      <p:ext uri="{BB962C8B-B14F-4D97-AF65-F5344CB8AC3E}">
        <p14:creationId xmlns:p14="http://schemas.microsoft.com/office/powerpoint/2010/main" val="384761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nicholelaggan@vt.edu" TargetMode="External"/><Relationship Id="rId2" Type="http://schemas.openxmlformats.org/officeDocument/2006/relationships/hyperlink" Target="mailto:klangwig@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AC568-57EF-97FA-7C55-5583B555939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D052916-ECDB-F176-6046-71C83619048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97117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Housekeeping</a:t>
            </a:r>
          </a:p>
        </p:txBody>
      </p:sp>
      <p:sp>
        <p:nvSpPr>
          <p:cNvPr id="3" name="Content Placeholder 2"/>
          <p:cNvSpPr>
            <a:spLocks noGrp="1"/>
          </p:cNvSpPr>
          <p:nvPr>
            <p:ph idx="1"/>
          </p:nvPr>
        </p:nvSpPr>
        <p:spPr/>
        <p:txBody>
          <a:bodyPr>
            <a:normAutofit/>
          </a:bodyPr>
          <a:lstStyle/>
          <a:p>
            <a:r>
              <a:rPr lang="en-US" dirty="0"/>
              <a:t>We have 2 more weeks of planned material (Model Comparison and Mixed Models)</a:t>
            </a:r>
          </a:p>
          <a:p>
            <a:r>
              <a:rPr lang="en-US" dirty="0"/>
              <a:t>We then have presentations</a:t>
            </a:r>
          </a:p>
        </p:txBody>
      </p:sp>
    </p:spTree>
    <p:extLst>
      <p:ext uri="{BB962C8B-B14F-4D97-AF65-F5344CB8AC3E}">
        <p14:creationId xmlns:p14="http://schemas.microsoft.com/office/powerpoint/2010/main" val="1187018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 Presentation</a:t>
            </a:r>
          </a:p>
        </p:txBody>
      </p:sp>
      <p:sp>
        <p:nvSpPr>
          <p:cNvPr id="3" name="Content Placeholder 2"/>
          <p:cNvSpPr>
            <a:spLocks noGrp="1"/>
          </p:cNvSpPr>
          <p:nvPr>
            <p:ph idx="1"/>
          </p:nvPr>
        </p:nvSpPr>
        <p:spPr>
          <a:xfrm>
            <a:off x="838200" y="1382751"/>
            <a:ext cx="10515600" cy="4794212"/>
          </a:xfrm>
        </p:spPr>
        <p:txBody>
          <a:bodyPr>
            <a:normAutofit fontScale="70000" lnSpcReduction="20000"/>
          </a:bodyPr>
          <a:lstStyle/>
          <a:p>
            <a:r>
              <a:rPr lang="en-US" dirty="0"/>
              <a:t>Your final presentations will begin on Apr 16.</a:t>
            </a:r>
          </a:p>
          <a:p>
            <a:pPr lvl="1"/>
            <a:r>
              <a:rPr lang="en-US" dirty="0"/>
              <a:t>Stay tuned for a sign up sheet </a:t>
            </a:r>
          </a:p>
          <a:p>
            <a:pPr algn="l">
              <a:buFont typeface="Arial" panose="020B0604020202020204" pitchFamily="34" charset="0"/>
              <a:buChar char="•"/>
            </a:pPr>
            <a:r>
              <a:rPr lang="en-US" b="0" i="0" dirty="0">
                <a:solidFill>
                  <a:srgbClr val="222222"/>
                </a:solidFill>
                <a:effectLst/>
                <a:latin typeface="Lato Extended"/>
              </a:rPr>
              <a:t>The final project will be to discuss and perform a group of statistical analyses, make figures, and present tables. Students are encouraged to use their own data, if available, or the dataset you have been working with over the course of the semester.</a:t>
            </a:r>
          </a:p>
          <a:p>
            <a:pPr algn="l">
              <a:buFont typeface="Arial" panose="020B0604020202020204" pitchFamily="34" charset="0"/>
              <a:buChar char="•"/>
            </a:pPr>
            <a:r>
              <a:rPr lang="en-US" b="0" i="0" dirty="0">
                <a:solidFill>
                  <a:srgbClr val="222222"/>
                </a:solidFill>
                <a:effectLst/>
                <a:latin typeface="Lato Extended"/>
              </a:rPr>
              <a:t>Both the scientific and statistical background should be clearly presented, and future statistical steps you plan to take. These should be presented like the results section of a scientific paper, with a brief introduction, methods, and discussion section sufficient for understanding the results.</a:t>
            </a:r>
          </a:p>
          <a:p>
            <a:pPr algn="l">
              <a:buFont typeface="Arial" panose="020B0604020202020204" pitchFamily="34" charset="0"/>
              <a:buChar char="•"/>
            </a:pPr>
            <a:r>
              <a:rPr lang="en-US" b="0" i="0" dirty="0">
                <a:solidFill>
                  <a:srgbClr val="222222"/>
                </a:solidFill>
                <a:effectLst/>
                <a:latin typeface="Lato Extended"/>
              </a:rPr>
              <a:t>The emphasis is on the question you are asking, whether you have selected the appropriate tool (e.g. statistics for the question), the figures you have made, and the results. </a:t>
            </a:r>
          </a:p>
          <a:p>
            <a:pPr lvl="1"/>
            <a:endParaRPr lang="en-US" dirty="0"/>
          </a:p>
          <a:p>
            <a:r>
              <a:rPr lang="en-US" dirty="0"/>
              <a:t>On </a:t>
            </a:r>
            <a:r>
              <a:rPr lang="en-US" b="1" u="sng" dirty="0"/>
              <a:t>Tues Apr 9</a:t>
            </a:r>
            <a:r>
              <a:rPr lang="en-US" u="sng" dirty="0"/>
              <a:t> </a:t>
            </a:r>
            <a:r>
              <a:rPr lang="en-US" dirty="0"/>
              <a:t> you need to turn in a project plan to me about your x vars, y vars, and the analysis you will complete</a:t>
            </a:r>
          </a:p>
          <a:p>
            <a:endParaRPr lang="en-US" dirty="0"/>
          </a:p>
          <a:p>
            <a:r>
              <a:rPr lang="en-US" dirty="0"/>
              <a:t>On </a:t>
            </a:r>
            <a:r>
              <a:rPr lang="en-US" b="1" u="sng" dirty="0"/>
              <a:t>Thurs Apr 23 </a:t>
            </a:r>
            <a:r>
              <a:rPr lang="en-US" dirty="0"/>
              <a:t> you will turn in a results statement as well as your final presentation</a:t>
            </a:r>
          </a:p>
          <a:p>
            <a:endParaRPr lang="en-US" dirty="0"/>
          </a:p>
        </p:txBody>
      </p:sp>
    </p:spTree>
    <p:extLst>
      <p:ext uri="{BB962C8B-B14F-4D97-AF65-F5344CB8AC3E}">
        <p14:creationId xmlns:p14="http://schemas.microsoft.com/office/powerpoint/2010/main" val="2781139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0160"/>
            <a:ext cx="10515600" cy="861509"/>
          </a:xfrm>
        </p:spPr>
        <p:txBody>
          <a:bodyPr/>
          <a:lstStyle/>
          <a:p>
            <a:r>
              <a:rPr lang="en-US" dirty="0"/>
              <a:t>Presentation template</a:t>
            </a:r>
          </a:p>
        </p:txBody>
      </p:sp>
      <p:sp>
        <p:nvSpPr>
          <p:cNvPr id="3" name="Content Placeholder 2"/>
          <p:cNvSpPr>
            <a:spLocks noGrp="1"/>
          </p:cNvSpPr>
          <p:nvPr>
            <p:ph idx="1"/>
          </p:nvPr>
        </p:nvSpPr>
        <p:spPr>
          <a:xfrm>
            <a:off x="838200" y="1081669"/>
            <a:ext cx="10515600" cy="5095294"/>
          </a:xfrm>
        </p:spPr>
        <p:txBody>
          <a:bodyPr>
            <a:normAutofit fontScale="70000" lnSpcReduction="20000"/>
          </a:bodyPr>
          <a:lstStyle/>
          <a:p>
            <a:pPr algn="l"/>
            <a:r>
              <a:rPr lang="en-US" b="0" i="0" dirty="0">
                <a:solidFill>
                  <a:srgbClr val="222222"/>
                </a:solidFill>
                <a:effectLst/>
                <a:latin typeface="Lato Extended"/>
              </a:rPr>
              <a:t>Presentation template (12 min, 2 min for Qs)</a:t>
            </a:r>
          </a:p>
          <a:p>
            <a:pPr algn="l">
              <a:buFont typeface="Arial" panose="020B0604020202020204" pitchFamily="34" charset="0"/>
              <a:buChar char="•"/>
            </a:pPr>
            <a:r>
              <a:rPr lang="en-US" b="0" i="0" dirty="0">
                <a:solidFill>
                  <a:srgbClr val="222222"/>
                </a:solidFill>
                <a:effectLst/>
                <a:latin typeface="Lato Extended"/>
              </a:rPr>
              <a:t>Title, Name and authors</a:t>
            </a:r>
          </a:p>
          <a:p>
            <a:pPr algn="l">
              <a:buFont typeface="Arial" panose="020B0604020202020204" pitchFamily="34" charset="0"/>
              <a:buChar char="•"/>
            </a:pPr>
            <a:r>
              <a:rPr lang="en-US" b="0" i="0" dirty="0">
                <a:solidFill>
                  <a:srgbClr val="222222"/>
                </a:solidFill>
                <a:effectLst/>
                <a:latin typeface="Lato Extended"/>
              </a:rPr>
              <a:t>Introduction (1-2 slide background,  bulleted is okay)</a:t>
            </a:r>
          </a:p>
          <a:p>
            <a:pPr algn="l">
              <a:buFont typeface="Arial" panose="020B0604020202020204" pitchFamily="34" charset="0"/>
              <a:buChar char="•"/>
            </a:pPr>
            <a:r>
              <a:rPr lang="en-US" b="0" i="0" dirty="0">
                <a:solidFill>
                  <a:srgbClr val="222222"/>
                </a:solidFill>
                <a:effectLst/>
                <a:latin typeface="Lato Extended"/>
              </a:rPr>
              <a:t>Question/hypothesis slide: this should connect to your statistical results</a:t>
            </a:r>
          </a:p>
          <a:p>
            <a:pPr algn="l">
              <a:buFont typeface="Arial" panose="020B0604020202020204" pitchFamily="34" charset="0"/>
              <a:buChar char="•"/>
            </a:pPr>
            <a:r>
              <a:rPr lang="en-US" b="0" i="0" dirty="0">
                <a:solidFill>
                  <a:srgbClr val="222222"/>
                </a:solidFill>
                <a:effectLst/>
                <a:latin typeface="Lato Extended"/>
              </a:rPr>
              <a:t>Methods (scientific and statistical; bulleted is okay)</a:t>
            </a:r>
            <a:br>
              <a:rPr lang="en-US" b="0" i="0" dirty="0">
                <a:solidFill>
                  <a:srgbClr val="222222"/>
                </a:solidFill>
                <a:effectLst/>
                <a:latin typeface="Lato Extended"/>
              </a:rPr>
            </a:br>
            <a:br>
              <a:rPr lang="en-US" b="0" i="0" dirty="0">
                <a:solidFill>
                  <a:srgbClr val="222222"/>
                </a:solidFill>
                <a:effectLst/>
                <a:latin typeface="Lato Extended"/>
              </a:rPr>
            </a:br>
            <a:endParaRPr lang="en-US" b="0" i="0" dirty="0">
              <a:solidFill>
                <a:srgbClr val="222222"/>
              </a:solidFill>
              <a:effectLst/>
              <a:latin typeface="Lato Extended"/>
            </a:endParaRPr>
          </a:p>
          <a:p>
            <a:pPr marL="742950" lvl="1" indent="-285750" algn="l">
              <a:buFont typeface="Arial" panose="020B0604020202020204" pitchFamily="34" charset="0"/>
              <a:buChar char="•"/>
            </a:pPr>
            <a:r>
              <a:rPr lang="en-US" b="0" i="0" dirty="0">
                <a:solidFill>
                  <a:srgbClr val="222222"/>
                </a:solidFill>
                <a:effectLst/>
                <a:latin typeface="Lato Extended"/>
              </a:rPr>
              <a:t>It should be clear what your x and y variables are and how you chose the statistics you did</a:t>
            </a:r>
          </a:p>
          <a:p>
            <a:pPr algn="l">
              <a:buFont typeface="Arial" panose="020B0604020202020204" pitchFamily="34" charset="0"/>
              <a:buChar char="•"/>
            </a:pPr>
            <a:r>
              <a:rPr lang="en-US" b="0" i="0" dirty="0">
                <a:solidFill>
                  <a:srgbClr val="222222"/>
                </a:solidFill>
                <a:effectLst/>
                <a:latin typeface="Lato Extended"/>
              </a:rPr>
              <a:t>Repost the question slide (remind the listener of the questions you are answering) before each results slides</a:t>
            </a:r>
          </a:p>
          <a:p>
            <a:pPr algn="l">
              <a:buFont typeface="Arial" panose="020B0604020202020204" pitchFamily="34" charset="0"/>
              <a:buChar char="•"/>
            </a:pPr>
            <a:r>
              <a:rPr lang="en-US" b="0" i="0" dirty="0">
                <a:solidFill>
                  <a:srgbClr val="222222"/>
                </a:solidFill>
                <a:effectLst/>
                <a:latin typeface="Lato Extended"/>
              </a:rPr>
              <a:t>Results (you will turn in a results statement written like a scientific paper). Please visit tips for writing results sections (posted).</a:t>
            </a:r>
          </a:p>
          <a:p>
            <a:pPr marL="742950" lvl="1" indent="-285750" algn="l">
              <a:buFont typeface="Arial" panose="020B0604020202020204" pitchFamily="34" charset="0"/>
              <a:buChar char="•"/>
            </a:pPr>
            <a:r>
              <a:rPr lang="en-US" b="0" i="0" dirty="0">
                <a:solidFill>
                  <a:srgbClr val="222222"/>
                </a:solidFill>
                <a:effectLst/>
                <a:latin typeface="Lato Extended"/>
              </a:rPr>
              <a:t>Each slide in the results should be a figure or figure/table. You should include the stats as a caption on your slide some place. You should be able to articulate what the figure is telling you in relation to the question and what the stats are saying. </a:t>
            </a:r>
            <a:br>
              <a:rPr lang="en-US" b="0" i="0" dirty="0">
                <a:solidFill>
                  <a:srgbClr val="222222"/>
                </a:solidFill>
                <a:effectLst/>
                <a:latin typeface="Lato Extended"/>
              </a:rPr>
            </a:br>
            <a:br>
              <a:rPr lang="en-US" b="0" i="0" dirty="0">
                <a:solidFill>
                  <a:srgbClr val="222222"/>
                </a:solidFill>
                <a:effectLst/>
                <a:latin typeface="Lato Extended"/>
              </a:rPr>
            </a:br>
            <a:endParaRPr lang="en-US" b="0" i="0" dirty="0">
              <a:solidFill>
                <a:srgbClr val="222222"/>
              </a:solidFill>
              <a:effectLst/>
              <a:latin typeface="Lato Extended"/>
            </a:endParaRPr>
          </a:p>
          <a:p>
            <a:pPr algn="l">
              <a:buFont typeface="Arial" panose="020B0604020202020204" pitchFamily="34" charset="0"/>
              <a:buChar char="•"/>
            </a:pPr>
            <a:r>
              <a:rPr lang="en-US" b="0" i="0" dirty="0">
                <a:solidFill>
                  <a:srgbClr val="222222"/>
                </a:solidFill>
                <a:effectLst/>
                <a:latin typeface="Lato Extended"/>
              </a:rPr>
              <a:t>Discussion (what do your results mean, future statistical analyses to be conducted, what this tells us about the world; bulleted is okay)</a:t>
            </a:r>
          </a:p>
          <a:p>
            <a:endParaRPr lang="en-US" dirty="0"/>
          </a:p>
        </p:txBody>
      </p:sp>
    </p:spTree>
    <p:extLst>
      <p:ext uri="{BB962C8B-B14F-4D97-AF65-F5344CB8AC3E}">
        <p14:creationId xmlns:p14="http://schemas.microsoft.com/office/powerpoint/2010/main" val="152044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A1BC7-868D-7DFB-5E36-1816A577F30A}"/>
              </a:ext>
            </a:extLst>
          </p:cNvPr>
          <p:cNvSpPr>
            <a:spLocks noGrp="1"/>
          </p:cNvSpPr>
          <p:nvPr>
            <p:ph type="title"/>
          </p:nvPr>
        </p:nvSpPr>
        <p:spPr/>
        <p:txBody>
          <a:bodyPr/>
          <a:lstStyle/>
          <a:p>
            <a:r>
              <a:rPr lang="en-US" dirty="0"/>
              <a:t>Presentation</a:t>
            </a:r>
          </a:p>
        </p:txBody>
      </p:sp>
      <p:sp>
        <p:nvSpPr>
          <p:cNvPr id="3" name="Content Placeholder 2">
            <a:extLst>
              <a:ext uri="{FF2B5EF4-FFF2-40B4-BE49-F238E27FC236}">
                <a16:creationId xmlns:a16="http://schemas.microsoft.com/office/drawing/2014/main" id="{9A0465E6-22AB-0961-330B-3382185787E5}"/>
              </a:ext>
            </a:extLst>
          </p:cNvPr>
          <p:cNvSpPr>
            <a:spLocks noGrp="1"/>
          </p:cNvSpPr>
          <p:nvPr>
            <p:ph idx="1"/>
          </p:nvPr>
        </p:nvSpPr>
        <p:spPr/>
        <p:txBody>
          <a:bodyPr/>
          <a:lstStyle/>
          <a:p>
            <a:r>
              <a:rPr lang="en-US" dirty="0"/>
              <a:t>Please send your presentation to ME (</a:t>
            </a:r>
            <a:r>
              <a:rPr lang="en-US" dirty="0">
                <a:hlinkClick r:id="rId2"/>
              </a:rPr>
              <a:t>klangwig@gmail.com</a:t>
            </a:r>
            <a:r>
              <a:rPr lang="en-US" dirty="0"/>
              <a:t>) and Nichole (</a:t>
            </a:r>
            <a:r>
              <a:rPr lang="en-US" dirty="0">
                <a:hlinkClick r:id="rId3"/>
              </a:rPr>
              <a:t>nicholelaggan@vt.edu</a:t>
            </a:r>
            <a:r>
              <a:rPr lang="en-US" dirty="0"/>
              <a:t>) before class so we can get them loaded onto a single computer or arrive a few minutes early </a:t>
            </a:r>
          </a:p>
          <a:p>
            <a:endParaRPr lang="en-US" dirty="0"/>
          </a:p>
          <a:p>
            <a:r>
              <a:rPr lang="en-US" dirty="0"/>
              <a:t>All materials are due regardless of your presentation date on Apr 23</a:t>
            </a:r>
          </a:p>
        </p:txBody>
      </p:sp>
    </p:spTree>
    <p:extLst>
      <p:ext uri="{BB962C8B-B14F-4D97-AF65-F5344CB8AC3E}">
        <p14:creationId xmlns:p14="http://schemas.microsoft.com/office/powerpoint/2010/main" val="3494608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Words>
  <Application>Microsoft Macintosh PowerPoint</Application>
  <PresentationFormat>Widescreen</PresentationFormat>
  <Paragraphs>28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Lato Extended</vt:lpstr>
      <vt:lpstr>Office Theme</vt:lpstr>
      <vt:lpstr>PowerPoint Presentation</vt:lpstr>
      <vt:lpstr>Housekeeping</vt:lpstr>
      <vt:lpstr>Final Presentation</vt:lpstr>
      <vt:lpstr>Presentation template</vt:lpstr>
      <vt:lpstr>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 Langwig</dc:creator>
  <cp:lastModifiedBy>Kate Langwig</cp:lastModifiedBy>
  <cp:revision>1</cp:revision>
  <dcterms:created xsi:type="dcterms:W3CDTF">2026-03-30T20:20:28Z</dcterms:created>
  <dcterms:modified xsi:type="dcterms:W3CDTF">2026-03-30T20:21:06Z</dcterms:modified>
</cp:coreProperties>
</file>